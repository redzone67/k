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3"/>
  </p:normalViewPr>
  <p:slideViewPr>
    <p:cSldViewPr snapToGrid="0">
      <p:cViewPr varScale="1">
        <p:scale>
          <a:sx n="88" d="100"/>
          <a:sy n="88" d="100"/>
        </p:scale>
        <p:origin x="17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53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56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17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67901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74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7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63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882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75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26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73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05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90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3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53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7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6067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24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170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743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503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876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384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005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664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787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190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12/20/25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1632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12/20/25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198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12/20/25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612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09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711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753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132532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219806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537004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60591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02315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61850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200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933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161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988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105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7462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95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12/20/25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616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253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7723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58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32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75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0EB84E9F-0F7C-1FA6-938B-AFDA83C3BF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707476"/>
              </p:ext>
            </p:extLst>
          </p:nvPr>
        </p:nvGraphicFramePr>
        <p:xfrm>
          <a:off x="357196" y="354417"/>
          <a:ext cx="11631604" cy="6293127"/>
        </p:xfrm>
        <a:graphic>
          <a:graphicData uri="http://schemas.openxmlformats.org/drawingml/2006/table">
            <a:tbl>
              <a:tblPr firstRow="1" bandRow="1"/>
              <a:tblGrid>
                <a:gridCol w="686102">
                  <a:extLst>
                    <a:ext uri="{9D8B030D-6E8A-4147-A177-3AD203B41FA5}">
                      <a16:colId xmlns:a16="http://schemas.microsoft.com/office/drawing/2014/main" val="3220491301"/>
                    </a:ext>
                  </a:extLst>
                </a:gridCol>
                <a:gridCol w="1990188">
                  <a:extLst>
                    <a:ext uri="{9D8B030D-6E8A-4147-A177-3AD203B41FA5}">
                      <a16:colId xmlns:a16="http://schemas.microsoft.com/office/drawing/2014/main" val="2407025403"/>
                    </a:ext>
                  </a:extLst>
                </a:gridCol>
                <a:gridCol w="2685143">
                  <a:extLst>
                    <a:ext uri="{9D8B030D-6E8A-4147-A177-3AD203B41FA5}">
                      <a16:colId xmlns:a16="http://schemas.microsoft.com/office/drawing/2014/main" val="1295980234"/>
                    </a:ext>
                  </a:extLst>
                </a:gridCol>
                <a:gridCol w="6270171">
                  <a:extLst>
                    <a:ext uri="{9D8B030D-6E8A-4147-A177-3AD203B41FA5}">
                      <a16:colId xmlns:a16="http://schemas.microsoft.com/office/drawing/2014/main" val="1614985176"/>
                    </a:ext>
                  </a:extLst>
                </a:gridCol>
              </a:tblGrid>
              <a:tr h="2060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日付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指標・イベント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コンテキスト（過去分析での注目点：分野別）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分析視点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631501"/>
                  </a:ext>
                </a:extLst>
              </a:tr>
              <a:tr h="858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effectLst/>
                        </a:rPr>
                        <a:t>2025/12/23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米・耐久財受注（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月分）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企業業況・投資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：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AI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関連投資は継続する一方、過剰債務・過剰投資（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AI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バブル調整）への警戒が論点 ‌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）「輸送機器・防衛」を外した基調＝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非国防資本財（除く航空機）の受注・出荷を、設備投資（</a:t>
                      </a:r>
                      <a:r>
                        <a:rPr lang="en" sz="800" b="1" dirty="0">
                          <a:solidFill>
                            <a:schemeClr val="tx1"/>
                          </a:solidFill>
                          <a:effectLst/>
                        </a:rPr>
                        <a:t>GDP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の</a:t>
                      </a:r>
                      <a:r>
                        <a:rPr lang="en" sz="800" b="1" dirty="0">
                          <a:solidFill>
                            <a:schemeClr val="tx1"/>
                          </a:solidFill>
                          <a:effectLst/>
                        </a:rPr>
                        <a:t>Equipment）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につながる“実需”として評価。（</a:t>
                      </a:r>
                      <a:r>
                        <a:rPr lang="en-US" altLang="ja-JP" sz="8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r>
                        <a:rPr lang="en" sz="800" b="1" dirty="0">
                          <a:solidFill>
                            <a:schemeClr val="tx1"/>
                          </a:solidFill>
                          <a:effectLst/>
                        </a:rPr>
                        <a:t>AI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投資テーマなら、</a:t>
                      </a:r>
                      <a:r>
                        <a:rPr lang="en" sz="800" b="1" dirty="0">
                          <a:solidFill>
                            <a:schemeClr val="tx1"/>
                          </a:solidFill>
                          <a:effectLst/>
                        </a:rPr>
                        <a:t>PC/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サーバー等に紐づく品目の強弱や、企業側の投資抑制サイン（受注の連続減、出荷下振れ）を点検。（</a:t>
                      </a:r>
                      <a:r>
                        <a:rPr lang="en-US" altLang="ja-JP" sz="8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）駆け込み</a:t>
                      </a:r>
                      <a:r>
                        <a:rPr lang="en-US" altLang="ja-JP" sz="800" b="1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反動（関税・政策・年末要因）でブレやすいので、受注より出荷・未処理受注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も併用。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033226"/>
                  </a:ext>
                </a:extLst>
              </a:tr>
              <a:tr h="8488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effectLst/>
                        </a:rPr>
                        <a:t>2025/12/23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米・鉱工業生産／設備稼働率（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G.17）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雇用（企業側の景況感の写し）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：関税コスト等を背景に製造業で雇用削減が示唆された局面あり ‌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）総合指数だけでなく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製造業・鉱業・公益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を分解し、足元の成長ドライバー（製造業の内訳）を把握。（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）設備稼働率は「供給制約→物価圧力」の手掛かりになり得るため、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FRB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の物価見通しと整合的か（インフレ再燃リスクか、需給緩和か）をチェック。（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）雇用（製造業の採用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レイオフ）や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ISM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等のサーベイと突合して、単月ブレをならす。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783922"/>
                  </a:ext>
                </a:extLst>
              </a:tr>
              <a:tr h="858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effectLst/>
                        </a:rPr>
                        <a:t>2025/12/23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米・消費者信頼感（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Conference Board）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消費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：消費は底堅いが、富裕層と低所得層の“二極化”を継続的に観察 ‌。年末商戦・リアルタイムデータで底堅さ確認、ただし品目によって値上げが売上抑制 ‌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）ヘッドラインよりも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現況 </a:t>
                      </a:r>
                      <a:r>
                        <a:rPr lang="en" sz="800" b="1" dirty="0">
                          <a:solidFill>
                            <a:schemeClr val="tx1"/>
                          </a:solidFill>
                          <a:effectLst/>
                        </a:rPr>
                        <a:t>vs 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期待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、および「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Jobs plentiful / hard to get」（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雇用判断）の方向感を重視。（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）二極化が論点なので、信頼感の改善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悪化が**裁量消費（旅行・外食等）**に波及しているのか、ディスカウント消費に偏っているのかを、企業決算コメントや高頻度消費指標と合わせて読む。（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）金利（ローン負担）や株価（資産効果）がマインドを動かしていないかを確認。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02143"/>
                  </a:ext>
                </a:extLst>
              </a:tr>
              <a:tr h="69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effectLst/>
                        </a:rPr>
                        <a:t>2025/12/24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米・新規失業保険申請件数（クリスマス週で水曜公表）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雇用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：州別データ等から、新規失業保険申請は「横ばい圏」の推計・確認が行われてきた ‌。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JOLTS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では採用率低下など軟化継続も、継続受給は概ね横ばいで急悪化は見えにくい点を重視 ‌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）休日要因でブレやすいので、</a:t>
                      </a:r>
                      <a:r>
                        <a:rPr lang="en-US" altLang="ja-JP" sz="800" b="1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週平均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と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継続受給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をセットで評価。（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）「解雇増」よりも「採用減」が景気減速を作る局面があり得るため、申請件数が落ち着いていても安心せず、採用関連（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JOLTS/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求人など）と組み合わせて判断。（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12/24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公表の特殊日程ゆえ、集計タイミングの歪み（申請処理遅延）を警戒。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508927"/>
                  </a:ext>
                </a:extLst>
              </a:tr>
              <a:tr h="532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effectLst/>
                        </a:rPr>
                        <a:t>2025/12/24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米債券市場：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SIFMA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推奨で早仕舞い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分析例がみあたりません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）取引時間短縮で板が薄くなりやすく、指標結果への反応が“過大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過小”になり得る点を前提に、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過度な価格反応はノイズ扱い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しやすい。（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）年末のバランスシート制約（レポ・短期金利）を点検し、資金繰りのストレス兆候がないか確認。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862996"/>
                  </a:ext>
                </a:extLst>
              </a:tr>
              <a:tr h="532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effectLst/>
                        </a:rPr>
                        <a:t>2025/12/24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政治・行政：大統領令により連邦政府機関は休業扱い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政治・行政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：政府機能停止（閉鎖）局面では、重要指標が欠損するなど「視界不良」が政策判断を難しくし得る点を重視 ‌。また、閉鎖の実体経済影響は当初限定的でも、長期化で悪影響が顕在化し得るという整理 ‌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）今回は「閉鎖」ではないが、休業で一部業務停滞が起きると、データ公表・行政手続き・企業活動に“摩擦”が出る可能性：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公表遅延</a:t>
                      </a:r>
                      <a:r>
                        <a:rPr lang="en-US" altLang="ja-JP" sz="800" b="1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改定増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を想定。（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）市場面では薄商いと重なるため、材料の少なさ自体がボラティリティ要因になり得る。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90992"/>
                  </a:ext>
                </a:extLst>
              </a:tr>
              <a:tr h="532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effectLst/>
                        </a:rPr>
                        <a:t>2025/12/25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クリスマス（米株式・債券市場休場、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FRB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も休日扱い）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消費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：ホリデー商戦は底堅い一方、消費の二極化（価格転嫁に弱い品目）を継続観察 ‌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）休場で価格発見が止まるため、海外市場や先物主導で動く局面は“流動性要因”を割り引く。（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）実体面ではホリデー消費の強弱がテーマ：年末商戦の強さが続くか、反動減に入るかを高頻度データで確認。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774947"/>
                  </a:ext>
                </a:extLst>
              </a:tr>
              <a:tr h="695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effectLst/>
                        </a:rPr>
                        <a:t>2025/12/26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FRB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統計：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H.8（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商業銀行の資産・負債、週次）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金融環境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：米銀決算は堅調でも、信用リスク（企業破綻、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AI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バブル、プライベートクレジット等）への警戒が論点 ‌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）**貸出（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C&amp;I、CRE、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消費者）**の伸び率変化を確認し、「景気減速なのに貸出が伸びる（信用の質悪化の前兆）」</a:t>
                      </a:r>
                      <a:r>
                        <a:rPr lang="en" sz="800" dirty="0">
                          <a:solidFill>
                            <a:schemeClr val="tx1"/>
                          </a:solidFill>
                          <a:effectLst/>
                        </a:rPr>
                        <a:t>or「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信用収縮（引締め）」のどちらかを見極め。（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</a:t>
                      </a: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預金動向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（流出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金利感応度）とセットで、銀行の資金調達制約→貸出態度悪化の芽を探す。（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）社債スプレッドや延滞率など“市場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/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実体”と整合しているかを点検。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514485"/>
                  </a:ext>
                </a:extLst>
              </a:tr>
              <a:tr h="532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800">
                          <a:solidFill>
                            <a:schemeClr val="tx1"/>
                          </a:solidFill>
                          <a:effectLst/>
                        </a:rPr>
                        <a:t>2025/12/26</a:t>
                      </a:r>
                    </a:p>
                  </a:txBody>
                  <a:tcPr marL="2659" marR="2659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政治・行政：大統領令により連邦政府機関は休業扱い（株式市場は通常取引）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 b="1">
                          <a:solidFill>
                            <a:schemeClr val="tx1"/>
                          </a:solidFill>
                          <a:effectLst/>
                        </a:rPr>
                        <a:t>政治・行政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：政府関連の運営停止・停滞は、統計の欠損や政策判断の不確実性を高め得る点を重視 ‌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）市場は開いても、行政が止まると“情報の空白”が生まれやすい。材料難のなかで、発言・観測報道に振られやすくなる点に注意。（</a:t>
                      </a:r>
                      <a:r>
                        <a:rPr lang="en-US" altLang="ja-JP" sz="8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ja-JP" altLang="en-US" sz="800">
                          <a:solidFill>
                            <a:schemeClr val="tx1"/>
                          </a:solidFill>
                          <a:effectLst/>
                        </a:rPr>
                        <a:t>）重要統計の公表・改定スケジュールに変更が出ないかをウォッチ（短期の見通し精度に影響）。</a:t>
                      </a:r>
                    </a:p>
                  </a:txBody>
                  <a:tcPr marL="72000" marR="72000" marT="1329" marB="13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287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00648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1165</Words>
  <Application>Microsoft Macintosh PowerPoint</Application>
  <PresentationFormat>ワイド画面</PresentationFormat>
  <Paragraphs>40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Neue Haas Grotesk Text Pro</vt:lpstr>
      <vt:lpstr>Dune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Makoto Ono</dc:creator>
  <cp:lastModifiedBy>Makoto Ono</cp:lastModifiedBy>
  <cp:revision>1</cp:revision>
  <dcterms:created xsi:type="dcterms:W3CDTF">2025-12-20T01:36:11Z</dcterms:created>
  <dcterms:modified xsi:type="dcterms:W3CDTF">2025-12-20T01:41:28Z</dcterms:modified>
</cp:coreProperties>
</file>